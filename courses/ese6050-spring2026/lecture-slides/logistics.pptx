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1"/>
  </p:notesMasterIdLst>
  <p:handoutMasterIdLst>
    <p:handoutMasterId r:id="rId12"/>
  </p:handoutMasterIdLst>
  <p:sldIdLst>
    <p:sldId id="802" r:id="rId2"/>
    <p:sldId id="1359" r:id="rId3"/>
    <p:sldId id="1360" r:id="rId4"/>
    <p:sldId id="1361" r:id="rId5"/>
    <p:sldId id="1362" r:id="rId6"/>
    <p:sldId id="1363" r:id="rId7"/>
    <p:sldId id="1364" r:id="rId8"/>
    <p:sldId id="1367" r:id="rId9"/>
    <p:sldId id="1366" r:id="rId1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C9C"/>
    <a:srgbClr val="FF5050"/>
    <a:srgbClr val="008000"/>
    <a:srgbClr val="FFFC00"/>
    <a:srgbClr val="3333FF"/>
    <a:srgbClr val="FF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p:restoredTop sz="75862" autoAdjust="0"/>
  </p:normalViewPr>
  <p:slideViewPr>
    <p:cSldViewPr snapToGrid="0" snapToObjects="1">
      <p:cViewPr varScale="1">
        <p:scale>
          <a:sx n="109" d="100"/>
          <a:sy n="109" d="100"/>
        </p:scale>
        <p:origin x="1536" y="184"/>
      </p:cViewPr>
      <p:guideLst>
        <p:guide orient="horz" pos="1620"/>
        <p:guide pos="2880"/>
      </p:guideLst>
    </p:cSldViewPr>
  </p:slideViewPr>
  <p:outlineViewPr>
    <p:cViewPr>
      <p:scale>
        <a:sx n="33" d="100"/>
        <a:sy n="33" d="100"/>
      </p:scale>
      <p:origin x="0" y="-2248"/>
    </p:cViewPr>
  </p:outlineViewPr>
  <p:notesTextViewPr>
    <p:cViewPr>
      <p:scale>
        <a:sx n="3" d="2"/>
        <a:sy n="3" d="2"/>
      </p:scale>
      <p:origin x="0" y="0"/>
    </p:cViewPr>
  </p:notesTextViewPr>
  <p:sorterViewPr>
    <p:cViewPr>
      <p:scale>
        <a:sx n="100" d="100"/>
        <a:sy n="100" d="100"/>
      </p:scale>
      <p:origin x="0" y="-2576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44B7452-CBCE-544C-82C0-61A81034B8D9}" type="datetimeFigureOut">
              <a:rPr lang="en-US" smtClean="0"/>
              <a:t>1/14/26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1D2FEF5-9443-F948-AA60-C55FDC0D35B1}" type="slidenum">
              <a:rPr lang="en-US" smtClean="0"/>
              <a:t>‹#›</a:t>
            </a:fld>
            <a:endParaRPr lang="en-US"/>
          </a:p>
        </p:txBody>
      </p:sp>
    </p:spTree>
    <p:extLst>
      <p:ext uri="{BB962C8B-B14F-4D97-AF65-F5344CB8AC3E}">
        <p14:creationId xmlns:p14="http://schemas.microsoft.com/office/powerpoint/2010/main" val="11642681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2B2B26-92A0-7541-B16F-52F5B57C465F}" type="datetimeFigureOut">
              <a:rPr lang="en-US" smtClean="0"/>
              <a:t>1/14/26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5D8441-E7A9-284C-8636-5AB99FE5A713}" type="slidenum">
              <a:rPr lang="en-US" smtClean="0"/>
              <a:t>‹#›</a:t>
            </a:fld>
            <a:endParaRPr lang="en-US"/>
          </a:p>
        </p:txBody>
      </p:sp>
    </p:spTree>
    <p:extLst>
      <p:ext uri="{BB962C8B-B14F-4D97-AF65-F5344CB8AC3E}">
        <p14:creationId xmlns:p14="http://schemas.microsoft.com/office/powerpoint/2010/main" val="84086309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97C858-5C24-0343-A757-AEE1BF7449B6}" type="slidenum">
              <a:rPr lang="en-US" smtClean="0"/>
              <a:t>0</a:t>
            </a:fld>
            <a:endParaRPr lang="en-US"/>
          </a:p>
        </p:txBody>
      </p:sp>
    </p:spTree>
    <p:extLst>
      <p:ext uri="{BB962C8B-B14F-4D97-AF65-F5344CB8AC3E}">
        <p14:creationId xmlns:p14="http://schemas.microsoft.com/office/powerpoint/2010/main" val="2134051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5D8441-E7A9-284C-8636-5AB99FE5A713}" type="slidenum">
              <a:rPr lang="en-US" smtClean="0"/>
              <a:t>1</a:t>
            </a:fld>
            <a:endParaRPr lang="en-US"/>
          </a:p>
        </p:txBody>
      </p:sp>
    </p:spTree>
    <p:extLst>
      <p:ext uri="{BB962C8B-B14F-4D97-AF65-F5344CB8AC3E}">
        <p14:creationId xmlns:p14="http://schemas.microsoft.com/office/powerpoint/2010/main" val="1076220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FDDE4-8204-86B8-FB36-7093A1725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6EABA-D692-68DE-BBF1-D9CCF7777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89461-3F41-5CEE-7E3B-7FD7C85D4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355716-CFE5-3085-1540-D2A131BDF8B0}"/>
              </a:ext>
            </a:extLst>
          </p:cNvPr>
          <p:cNvSpPr>
            <a:spLocks noGrp="1"/>
          </p:cNvSpPr>
          <p:nvPr>
            <p:ph type="sldNum" sz="quarter" idx="5"/>
          </p:nvPr>
        </p:nvSpPr>
        <p:spPr/>
        <p:txBody>
          <a:bodyPr/>
          <a:lstStyle/>
          <a:p>
            <a:fld id="{B85D8441-E7A9-284C-8636-5AB99FE5A713}" type="slidenum">
              <a:rPr lang="en-US" smtClean="0"/>
              <a:t>7</a:t>
            </a:fld>
            <a:endParaRPr lang="en-US"/>
          </a:p>
        </p:txBody>
      </p:sp>
    </p:spTree>
    <p:extLst>
      <p:ext uri="{BB962C8B-B14F-4D97-AF65-F5344CB8AC3E}">
        <p14:creationId xmlns:p14="http://schemas.microsoft.com/office/powerpoint/2010/main" val="71704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DB05E-4E87-8C8D-BD6A-E076FF279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39621-BDE4-2D07-B1CA-D614F1B79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02FC9-8EF3-D189-D568-05A437719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33C991-FE0D-32ED-CB3C-412776CF1272}"/>
              </a:ext>
            </a:extLst>
          </p:cNvPr>
          <p:cNvSpPr>
            <a:spLocks noGrp="1"/>
          </p:cNvSpPr>
          <p:nvPr>
            <p:ph type="sldNum" sz="quarter" idx="5"/>
          </p:nvPr>
        </p:nvSpPr>
        <p:spPr/>
        <p:txBody>
          <a:bodyPr/>
          <a:lstStyle/>
          <a:p>
            <a:fld id="{B85D8441-E7A9-284C-8636-5AB99FE5A713}" type="slidenum">
              <a:rPr lang="en-US" smtClean="0"/>
              <a:t>8</a:t>
            </a:fld>
            <a:endParaRPr lang="en-US"/>
          </a:p>
        </p:txBody>
      </p:sp>
    </p:spTree>
    <p:extLst>
      <p:ext uri="{BB962C8B-B14F-4D97-AF65-F5344CB8AC3E}">
        <p14:creationId xmlns:p14="http://schemas.microsoft.com/office/powerpoint/2010/main" val="13574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455EB6-B941-5146-9952-DE44460C1C67}" type="datetime1">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3891929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553EA3-B833-5F45-A6C4-754918BD43F4}" type="datetime1">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245352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919A0-3E44-0548-BA9C-C1DA0DE76F12}" type="datetime1">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2994896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2B5C21-338A-E04E-AF9D-55B1D5896A2D}" type="datetime1">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1450040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1BD589-BA7F-F345-8847-B5AAE90B0CE1}" type="datetime1">
              <a:rPr lang="en-US" smtClean="0"/>
              <a:t>1/14/26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90605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26E315-97B5-ED48-A6E2-C8DD9A15D910}" type="datetime1">
              <a:rPr lang="en-US" smtClean="0"/>
              <a:t>1/14/26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3925076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A9AD7-57B8-0C4A-8A03-28346052B0A0}" type="datetime1">
              <a:rPr lang="en-US" smtClean="0"/>
              <a:t>1/14/26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1388794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EEB905-CF7D-1745-9BAA-4C16AF2CEAF4}" type="datetime1">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223047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AE0F5B-B811-174D-9EB6-CE24A856A7A0}" type="datetime1">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13805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882CAB-4B72-8D4D-85F5-0CF3179D56D1}" type="datetime1">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2896994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818920-949E-B948-ABEB-042404D19519}" type="datetime1">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2C6B4-414F-3741-9161-A0ECAF96219A}" type="slidenum">
              <a:rPr lang="en-US" smtClean="0"/>
              <a:t>‹#›</a:t>
            </a:fld>
            <a:endParaRPr lang="en-US"/>
          </a:p>
        </p:txBody>
      </p:sp>
    </p:spTree>
    <p:extLst>
      <p:ext uri="{BB962C8B-B14F-4D97-AF65-F5344CB8AC3E}">
        <p14:creationId xmlns:p14="http://schemas.microsoft.com/office/powerpoint/2010/main" val="3388485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C3A6EF79-F1A3-AF4A-9DED-9EDE600DAF86}" type="datetime1">
              <a:rPr lang="en-US" smtClean="0"/>
              <a:t>1/14/26</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632C6B4-414F-3741-9161-A0ECAF96219A}" type="slidenum">
              <a:rPr lang="en-US" smtClean="0"/>
              <a:t>‹#›</a:t>
            </a:fld>
            <a:endParaRPr lang="en-US"/>
          </a:p>
        </p:txBody>
      </p:sp>
    </p:spTree>
    <p:extLst>
      <p:ext uri="{BB962C8B-B14F-4D97-AF65-F5344CB8AC3E}">
        <p14:creationId xmlns:p14="http://schemas.microsoft.com/office/powerpoint/2010/main" val="538737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farazr@seas.upenn.edu" TargetMode="External"/><Relationship Id="rId3" Type="http://schemas.openxmlformats.org/officeDocument/2006/relationships/hyperlink" Target="mailto:nmatni@seas.upenn.edu" TargetMode="External"/><Relationship Id="rId7" Type="http://schemas.openxmlformats.org/officeDocument/2006/relationships/hyperlink" Target="mailto:vsyzhang@seas.upenn.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jwang541@seas.upenn.edu" TargetMode="External"/><Relationship Id="rId11" Type="http://schemas.openxmlformats.org/officeDocument/2006/relationships/hyperlink" Target="https://nikolaimatni.github.io/courses/ese6050-spring2026/" TargetMode="External"/><Relationship Id="rId5" Type="http://schemas.openxmlformats.org/officeDocument/2006/relationships/hyperlink" Target="mailto:shekhe@seas.upenn.edu" TargetMode="External"/><Relationship Id="rId10" Type="http://schemas.openxmlformats.org/officeDocument/2006/relationships/hyperlink" Target="mailto:kumarnik@sas.upenn.edu" TargetMode="External"/><Relationship Id="rId4" Type="http://schemas.openxmlformats.org/officeDocument/2006/relationships/hyperlink" Target="mailto:alokshah@sas.upenn.edu" TargetMode="External"/><Relationship Id="rId9" Type="http://schemas.openxmlformats.org/officeDocument/2006/relationships/hyperlink" Target="mailto:mesbahi@seas.upenn.ed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cvxr.com/cvx/" TargetMode="External"/><Relationship Id="rId2" Type="http://schemas.openxmlformats.org/officeDocument/2006/relationships/hyperlink" Target="https://web.stanford.edu/~boyd/cvxbook/" TargetMode="External"/><Relationship Id="rId1" Type="http://schemas.openxmlformats.org/officeDocument/2006/relationships/slideLayout" Target="../slideLayouts/slideLayout2.xml"/><Relationship Id="rId6" Type="http://schemas.openxmlformats.org/officeDocument/2006/relationships/hyperlink" Target="https://people.eecs.berkeley.edu/~elghaoui/Teaching/EE227BT/LectureNotes_EE227BT.pdf" TargetMode="External"/><Relationship Id="rId5" Type="http://schemas.openxmlformats.org/officeDocument/2006/relationships/hyperlink" Target="http://convexjl.readthedocs.org/" TargetMode="External"/><Relationship Id="rId4" Type="http://schemas.openxmlformats.org/officeDocument/2006/relationships/hyperlink" Target="https://www.cvxpy.org/"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nikolaimatni.github.io/courses/ese6050-spring2026/index.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nikolaimatni.github.io/courses/ese605-spring2021/hw_template.zi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atalog.upenn.edu/pennbook/code-of-academic-integrit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csa.upenn.edu/"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070" y="344988"/>
            <a:ext cx="8417859" cy="1102519"/>
          </a:xfrm>
        </p:spPr>
        <p:txBody>
          <a:bodyPr>
            <a:noAutofit/>
          </a:bodyPr>
          <a:lstStyle/>
          <a:p>
            <a:r>
              <a:rPr lang="en-US" sz="4000" dirty="0"/>
              <a:t>ESE 6050-001</a:t>
            </a:r>
            <a:br>
              <a:rPr lang="en-US" sz="4000" dirty="0"/>
            </a:br>
            <a:r>
              <a:rPr lang="en-US" sz="4000" dirty="0"/>
              <a:t>Lecture 01: Logistics &amp; Introduction</a:t>
            </a:r>
          </a:p>
        </p:txBody>
      </p:sp>
      <p:sp>
        <p:nvSpPr>
          <p:cNvPr id="3" name="Subtitle 2"/>
          <p:cNvSpPr>
            <a:spLocks noGrp="1"/>
          </p:cNvSpPr>
          <p:nvPr>
            <p:ph type="subTitle" idx="1"/>
          </p:nvPr>
        </p:nvSpPr>
        <p:spPr>
          <a:xfrm>
            <a:off x="549963" y="1832369"/>
            <a:ext cx="8044071" cy="996243"/>
          </a:xfrm>
        </p:spPr>
        <p:txBody>
          <a:bodyPr>
            <a:noAutofit/>
          </a:bodyPr>
          <a:lstStyle/>
          <a:p>
            <a:pPr algn="l"/>
            <a:r>
              <a:rPr lang="en-US" sz="2000" b="1" dirty="0">
                <a:solidFill>
                  <a:schemeClr val="tx1"/>
                </a:solidFill>
              </a:rPr>
              <a:t>Instructor: </a:t>
            </a:r>
            <a:r>
              <a:rPr lang="en-US" sz="2000" dirty="0">
                <a:solidFill>
                  <a:schemeClr val="tx1"/>
                </a:solidFill>
              </a:rPr>
              <a:t>Nikolai Matni </a:t>
            </a:r>
            <a:r>
              <a:rPr lang="en-US" sz="2000" dirty="0">
                <a:solidFill>
                  <a:schemeClr val="tx1"/>
                </a:solidFill>
                <a:hlinkClick r:id="rId3"/>
              </a:rPr>
              <a:t>nmatni@seas.upenn.edu</a:t>
            </a:r>
            <a:endParaRPr lang="en-US" sz="2000" dirty="0">
              <a:solidFill>
                <a:schemeClr val="tx1"/>
              </a:solidFill>
            </a:endParaRPr>
          </a:p>
          <a:p>
            <a:pPr marL="0" marR="0" indent="0" algn="l">
              <a:lnSpc>
                <a:spcPct val="107000"/>
              </a:lnSpc>
              <a:spcAft>
                <a:spcPts val="150"/>
              </a:spcAft>
              <a:tabLst>
                <a:tab pos="457200" algn="ctr"/>
              </a:tabLst>
            </a:pPr>
            <a:r>
              <a:rPr lang="en-US" sz="1800" b="1" dirty="0">
                <a:solidFill>
                  <a:srgbClr val="000000"/>
                </a:solidFill>
                <a:effectLst/>
                <a:latin typeface="Arial" panose="020B0604020202020204" pitchFamily="34" charset="0"/>
                <a:ea typeface="Arial" panose="020B0604020202020204" pitchFamily="34" charset="0"/>
              </a:rPr>
              <a:t>TAs: </a:t>
            </a:r>
            <a:r>
              <a:rPr lang="en-US" sz="1800" dirty="0">
                <a:solidFill>
                  <a:srgbClr val="000000"/>
                </a:solidFill>
                <a:effectLst/>
                <a:latin typeface="Arial" panose="020B0604020202020204" pitchFamily="34" charset="0"/>
                <a:ea typeface="Arial" panose="020B0604020202020204" pitchFamily="34" charset="0"/>
              </a:rPr>
              <a:t>Alok Nirav Shah </a:t>
            </a:r>
            <a:r>
              <a:rPr lang="en-US" sz="1800" dirty="0">
                <a:solidFill>
                  <a:srgbClr val="000000"/>
                </a:solidFill>
                <a:effectLst/>
                <a:latin typeface="Arial" panose="020B0604020202020204" pitchFamily="34" charset="0"/>
                <a:ea typeface="Arial" panose="020B0604020202020204" pitchFamily="34" charset="0"/>
                <a:hlinkClick r:id="rId4"/>
              </a:rPr>
              <a:t>alokshah@sas.upenn.edu</a:t>
            </a:r>
            <a:r>
              <a:rPr lang="en-US" sz="1800" dirty="0">
                <a:solidFill>
                  <a:srgbClr val="000000"/>
                </a:solidFill>
                <a:effectLst/>
                <a:latin typeface="Arial" panose="020B0604020202020204" pitchFamily="34" charset="0"/>
                <a:ea typeface="Arial" panose="020B0604020202020204" pitchFamily="34" charset="0"/>
              </a:rPr>
              <a:t>, Eliot Shekhtman </a:t>
            </a:r>
            <a:r>
              <a:rPr lang="en-US" sz="1800" dirty="0">
                <a:solidFill>
                  <a:srgbClr val="000000"/>
                </a:solidFill>
                <a:effectLst/>
                <a:latin typeface="Arial" panose="020B0604020202020204" pitchFamily="34" charset="0"/>
                <a:ea typeface="Arial" panose="020B0604020202020204" pitchFamily="34" charset="0"/>
                <a:hlinkClick r:id="rId5"/>
              </a:rPr>
              <a:t>shekhe@seas.upenn.edu</a:t>
            </a:r>
            <a:r>
              <a:rPr lang="en-US" sz="1800" dirty="0">
                <a:solidFill>
                  <a:srgbClr val="000000"/>
                </a:solidFill>
                <a:effectLst/>
                <a:latin typeface="Arial" panose="020B0604020202020204" pitchFamily="34" charset="0"/>
                <a:ea typeface="Arial" panose="020B0604020202020204" pitchFamily="34" charset="0"/>
              </a:rPr>
              <a:t>, James Wang </a:t>
            </a:r>
            <a:r>
              <a:rPr lang="en-US" sz="1800" dirty="0">
                <a:solidFill>
                  <a:srgbClr val="000000"/>
                </a:solidFill>
                <a:effectLst/>
                <a:latin typeface="Arial" panose="020B0604020202020204" pitchFamily="34" charset="0"/>
                <a:ea typeface="Arial" panose="020B0604020202020204" pitchFamily="34" charset="0"/>
                <a:hlinkClick r:id="rId6"/>
              </a:rPr>
              <a:t>jwang541@seas.upenn.edu</a:t>
            </a:r>
            <a:r>
              <a:rPr lang="en-US" sz="1800" dirty="0">
                <a:solidFill>
                  <a:srgbClr val="000000"/>
                </a:solidFill>
                <a:effectLst/>
                <a:latin typeface="Arial" panose="020B0604020202020204" pitchFamily="34" charset="0"/>
                <a:ea typeface="Arial" panose="020B0604020202020204" pitchFamily="34" charset="0"/>
              </a:rPr>
              <a:t>, Vincent Zhang </a:t>
            </a:r>
            <a:r>
              <a:rPr lang="en-US" sz="1800" dirty="0">
                <a:solidFill>
                  <a:srgbClr val="000000"/>
                </a:solidFill>
                <a:effectLst/>
                <a:latin typeface="Arial" panose="020B0604020202020204" pitchFamily="34" charset="0"/>
                <a:ea typeface="Arial" panose="020B0604020202020204" pitchFamily="34" charset="0"/>
                <a:hlinkClick r:id="rId7"/>
              </a:rPr>
              <a:t>vsyzhang@seas.upenn.edu</a:t>
            </a:r>
            <a:r>
              <a:rPr lang="en-US" sz="1800" dirty="0">
                <a:solidFill>
                  <a:srgbClr val="000000"/>
                </a:solidFill>
                <a:effectLst/>
                <a:latin typeface="Arial" panose="020B0604020202020204" pitchFamily="34" charset="0"/>
                <a:ea typeface="Arial" panose="020B0604020202020204" pitchFamily="34" charset="0"/>
              </a:rPr>
              <a:t>, Faraz Rahman </a:t>
            </a:r>
            <a:r>
              <a:rPr lang="en-US" sz="1800" dirty="0">
                <a:solidFill>
                  <a:srgbClr val="000000"/>
                </a:solidFill>
                <a:effectLst/>
                <a:latin typeface="Arial" panose="020B0604020202020204" pitchFamily="34" charset="0"/>
                <a:ea typeface="Arial" panose="020B0604020202020204" pitchFamily="34" charset="0"/>
                <a:hlinkClick r:id="rId8"/>
              </a:rPr>
              <a:t>farazr@seas.upenn.edu</a:t>
            </a:r>
            <a:r>
              <a:rPr lang="en-US" sz="1800" dirty="0">
                <a:solidFill>
                  <a:srgbClr val="000000"/>
                </a:solidFill>
                <a:effectLst/>
                <a:latin typeface="Arial" panose="020B0604020202020204" pitchFamily="34" charset="0"/>
                <a:ea typeface="Arial" panose="020B0604020202020204" pitchFamily="34" charset="0"/>
              </a:rPr>
              <a:t>, Milad Mesbahi </a:t>
            </a:r>
            <a:r>
              <a:rPr lang="en-US" sz="1800" dirty="0">
                <a:solidFill>
                  <a:srgbClr val="000000"/>
                </a:solidFill>
                <a:effectLst/>
                <a:latin typeface="Arial" panose="020B0604020202020204" pitchFamily="34" charset="0"/>
                <a:ea typeface="Arial" panose="020B0604020202020204" pitchFamily="34" charset="0"/>
                <a:hlinkClick r:id="rId9"/>
              </a:rPr>
              <a:t>mesbahi@seas.upenn.edu</a:t>
            </a:r>
            <a:r>
              <a:rPr lang="en-US" sz="1800" dirty="0">
                <a:solidFill>
                  <a:srgbClr val="000000"/>
                </a:solidFill>
                <a:effectLst/>
                <a:latin typeface="Arial" panose="020B0604020202020204" pitchFamily="34" charset="0"/>
                <a:ea typeface="Arial" panose="020B0604020202020204" pitchFamily="34" charset="0"/>
              </a:rPr>
              <a:t>, Nikhil Kumar </a:t>
            </a:r>
            <a:r>
              <a:rPr lang="en-US" sz="1800" dirty="0">
                <a:solidFill>
                  <a:srgbClr val="000000"/>
                </a:solidFill>
                <a:effectLst/>
                <a:latin typeface="Arial" panose="020B0604020202020204" pitchFamily="34" charset="0"/>
                <a:ea typeface="Arial" panose="020B0604020202020204" pitchFamily="34" charset="0"/>
                <a:hlinkClick r:id="rId10"/>
              </a:rPr>
              <a:t>kumarnik@sas.upenn.edu</a:t>
            </a:r>
            <a:r>
              <a:rPr lang="en-US" sz="1800" dirty="0">
                <a:solidFill>
                  <a:srgbClr val="000000"/>
                </a:solidFill>
                <a:latin typeface="Arial" panose="020B0604020202020204" pitchFamily="34" charset="0"/>
                <a:ea typeface="Arial" panose="020B0604020202020204" pitchFamily="34" charset="0"/>
              </a:rPr>
              <a:t> </a:t>
            </a:r>
            <a:endParaRPr lang="en-US" sz="1800" dirty="0">
              <a:solidFill>
                <a:srgbClr val="000000"/>
              </a:solidFill>
              <a:effectLst/>
              <a:latin typeface="Arial" panose="020B0604020202020204" pitchFamily="34" charset="0"/>
              <a:ea typeface="Arial" panose="020B0604020202020204" pitchFamily="34" charset="0"/>
            </a:endParaRPr>
          </a:p>
          <a:p>
            <a:pPr algn="l"/>
            <a:r>
              <a:rPr lang="en-US" sz="2000" b="1" dirty="0">
                <a:solidFill>
                  <a:schemeClr val="tx1"/>
                </a:solidFill>
              </a:rPr>
              <a:t>Class: </a:t>
            </a:r>
            <a:r>
              <a:rPr lang="en-US" sz="2000" dirty="0">
                <a:solidFill>
                  <a:schemeClr val="tx1"/>
                </a:solidFill>
              </a:rPr>
              <a:t>Tu/Th 3:30-5.00pm ET in LRSM Auditorium</a:t>
            </a:r>
          </a:p>
          <a:p>
            <a:pPr algn="l"/>
            <a:r>
              <a:rPr lang="en-US" sz="2000" b="1" dirty="0">
                <a:solidFill>
                  <a:schemeClr val="tx1"/>
                </a:solidFill>
              </a:rPr>
              <a:t>Website:  </a:t>
            </a:r>
            <a:r>
              <a:rPr lang="en-US" sz="2000" dirty="0">
                <a:solidFill>
                  <a:schemeClr val="tx1"/>
                </a:solidFill>
                <a:hlinkClick r:id="rId11"/>
              </a:rPr>
              <a:t>https://nikolaimatni.github.io/courses/ese6050-spring2026/</a:t>
            </a:r>
            <a:r>
              <a:rPr lang="en-US" sz="2000" dirty="0">
                <a:solidFill>
                  <a:schemeClr val="tx1"/>
                </a:solidFill>
              </a:rPr>
              <a:t> </a:t>
            </a:r>
          </a:p>
        </p:txBody>
      </p:sp>
      <p:sp>
        <p:nvSpPr>
          <p:cNvPr id="4" name="Slide Number Placeholder 3"/>
          <p:cNvSpPr>
            <a:spLocks noGrp="1"/>
          </p:cNvSpPr>
          <p:nvPr>
            <p:ph type="sldNum" sz="quarter" idx="12"/>
          </p:nvPr>
        </p:nvSpPr>
        <p:spPr/>
        <p:txBody>
          <a:bodyPr/>
          <a:lstStyle/>
          <a:p>
            <a:fld id="{D632C6B4-414F-3741-9161-A0ECAF96219A}" type="slidenum">
              <a:rPr lang="en-US" smtClean="0"/>
              <a:t>0</a:t>
            </a:fld>
            <a:endParaRPr lang="en-US" dirty="0"/>
          </a:p>
        </p:txBody>
      </p:sp>
    </p:spTree>
    <p:extLst>
      <p:ext uri="{BB962C8B-B14F-4D97-AF65-F5344CB8AC3E}">
        <p14:creationId xmlns:p14="http://schemas.microsoft.com/office/powerpoint/2010/main" val="187047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2730217" y="140026"/>
            <a:ext cx="3683702" cy="646331"/>
          </a:xfrm>
          <a:prstGeom prst="rect">
            <a:avLst/>
          </a:prstGeom>
          <a:noFill/>
        </p:spPr>
        <p:txBody>
          <a:bodyPr wrap="none" rtlCol="0">
            <a:spAutoFit/>
          </a:bodyPr>
          <a:lstStyle/>
          <a:p>
            <a:pPr algn="ctr"/>
            <a:r>
              <a:rPr lang="en-US" sz="3600" dirty="0"/>
              <a:t>Course description</a:t>
            </a:r>
          </a:p>
        </p:txBody>
      </p:sp>
      <p:sp>
        <p:nvSpPr>
          <p:cNvPr id="5" name="Slide Number Placeholder 4"/>
          <p:cNvSpPr>
            <a:spLocks noGrp="1"/>
          </p:cNvSpPr>
          <p:nvPr>
            <p:ph type="sldNum" sz="quarter" idx="12"/>
          </p:nvPr>
        </p:nvSpPr>
        <p:spPr/>
        <p:txBody>
          <a:bodyPr/>
          <a:lstStyle/>
          <a:p>
            <a:fld id="{D632C6B4-414F-3741-9161-A0ECAF96219A}" type="slidenum">
              <a:rPr lang="en-US" smtClean="0"/>
              <a:t>1</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9" y="786357"/>
            <a:ext cx="8523102" cy="4370427"/>
          </a:xfrm>
          <a:prstGeom prst="rect">
            <a:avLst/>
          </a:prstGeom>
        </p:spPr>
        <p:txBody>
          <a:bodyPr wrap="square">
            <a:spAutoFit/>
          </a:bodyPr>
          <a:lstStyle/>
          <a:p>
            <a:pPr algn="just"/>
            <a:r>
              <a:rPr lang="en-US" sz="2000" dirty="0"/>
              <a:t>In this course, you will learn to recognize and solve convex optimization problems that arise in applications across engineering, statistics, operations research, and finance.  Examples will be chosen to illustrate the breadth and power of convex optimization, ranging from systems and control theory, to estimation, data fitting, information theory, and machine learning.  A tentative list, subject to change, of what we will cover includes: convex sets, functions, and optimization problems; the basics of convex analysis; least-squares, linear and quadratic programs, semidefinite programs, minimax, extremal volume, and other problems; optimality conditions, duality theory, theorems of alternatives, and applications; interior-point algorithms for solving convex optimization problems, and their complexity analysis; applications to signal processing, statistics and machine learning, control, digital and analog circuit design, and finance. </a:t>
            </a:r>
          </a:p>
          <a:p>
            <a:endParaRPr lang="en-US" dirty="0"/>
          </a:p>
        </p:txBody>
      </p:sp>
    </p:spTree>
    <p:extLst>
      <p:ext uri="{BB962C8B-B14F-4D97-AF65-F5344CB8AC3E}">
        <p14:creationId xmlns:p14="http://schemas.microsoft.com/office/powerpoint/2010/main" val="33853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296623" y="140026"/>
            <a:ext cx="2550891" cy="646331"/>
          </a:xfrm>
          <a:prstGeom prst="rect">
            <a:avLst/>
          </a:prstGeom>
          <a:noFill/>
        </p:spPr>
        <p:txBody>
          <a:bodyPr wrap="none" rtlCol="0">
            <a:spAutoFit/>
          </a:bodyPr>
          <a:lstStyle/>
          <a:p>
            <a:pPr algn="ctr"/>
            <a:r>
              <a:rPr lang="en-US" sz="3600" dirty="0"/>
              <a:t>Course goals</a:t>
            </a:r>
          </a:p>
        </p:txBody>
      </p:sp>
      <p:sp>
        <p:nvSpPr>
          <p:cNvPr id="5" name="Slide Number Placeholder 4"/>
          <p:cNvSpPr>
            <a:spLocks noGrp="1"/>
          </p:cNvSpPr>
          <p:nvPr>
            <p:ph type="sldNum" sz="quarter" idx="12"/>
          </p:nvPr>
        </p:nvSpPr>
        <p:spPr/>
        <p:txBody>
          <a:bodyPr/>
          <a:lstStyle/>
          <a:p>
            <a:fld id="{D632C6B4-414F-3741-9161-A0ECAF96219A}" type="slidenum">
              <a:rPr lang="en-US" smtClean="0"/>
              <a:t>2</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9" y="886718"/>
            <a:ext cx="8523102" cy="3785652"/>
          </a:xfrm>
          <a:prstGeom prst="rect">
            <a:avLst/>
          </a:prstGeom>
        </p:spPr>
        <p:txBody>
          <a:bodyPr wrap="square">
            <a:spAutoFit/>
          </a:bodyPr>
          <a:lstStyle/>
          <a:p>
            <a:pPr marL="285750" lvl="0" indent="-285750">
              <a:buFont typeface="Arial" panose="020B0604020202020204" pitchFamily="34" charset="0"/>
              <a:buChar char="•"/>
            </a:pPr>
            <a:r>
              <a:rPr lang="en-US" sz="2000" dirty="0"/>
              <a:t>to give you the tools and skills needed to identify convex optimization problems that arise in applications</a:t>
            </a:r>
          </a:p>
          <a:p>
            <a:pPr lvl="0"/>
            <a:endParaRPr lang="en-US" sz="2000" dirty="0"/>
          </a:p>
          <a:p>
            <a:pPr marL="285750" lvl="0" indent="-285750">
              <a:buFont typeface="Arial" panose="020B0604020202020204" pitchFamily="34" charset="0"/>
              <a:buChar char="•"/>
            </a:pPr>
            <a:r>
              <a:rPr lang="en-US" sz="2000" dirty="0"/>
              <a:t>to introduce the basic theory of convex optimization problems, concentrating on results that are useful in understanding, improving, and extending computational methods</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to give you a deep and foundational understanding of how such problems are solved, and hands on experience in solving them</a:t>
            </a:r>
          </a:p>
          <a:p>
            <a:pPr marL="285750" lvl="0" indent="-285750">
              <a:buFont typeface="Arial" panose="020B0604020202020204" pitchFamily="34" charset="0"/>
              <a:buChar char="•"/>
            </a:pPr>
            <a:endParaRPr lang="en-US" sz="2000" dirty="0"/>
          </a:p>
          <a:p>
            <a:pPr marL="285750" lvl="0" indent="-285750">
              <a:buFont typeface="Arial" panose="020B0604020202020204" pitchFamily="34" charset="0"/>
              <a:buChar char="•"/>
            </a:pPr>
            <a:r>
              <a:rPr lang="en-US" sz="2000" dirty="0"/>
              <a:t>to give you the background needed to feel comfortable in applying these methods in their own research work and/or applications</a:t>
            </a:r>
          </a:p>
        </p:txBody>
      </p:sp>
    </p:spTree>
    <p:extLst>
      <p:ext uri="{BB962C8B-B14F-4D97-AF65-F5344CB8AC3E}">
        <p14:creationId xmlns:p14="http://schemas.microsoft.com/office/powerpoint/2010/main" val="159738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dissolve">
                                      <p:cBhvr>
                                        <p:cTn id="12" dur="500"/>
                                        <p:tgtEl>
                                          <p:spTgt spid="2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animEffect transition="in" filter="dissolve">
                                      <p:cBhvr>
                                        <p:cTn id="17" dur="500"/>
                                        <p:tgtEl>
                                          <p:spTgt spid="2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xEl>
                                              <p:pRg st="6" end="6"/>
                                            </p:txEl>
                                          </p:spTgt>
                                        </p:tgtEl>
                                        <p:attrNameLst>
                                          <p:attrName>style.visibility</p:attrName>
                                        </p:attrNameLst>
                                      </p:cBhvr>
                                      <p:to>
                                        <p:strVal val="visible"/>
                                      </p:to>
                                    </p:set>
                                    <p:animEffect transition="in" filter="dissolve">
                                      <p:cBhvr>
                                        <p:cTn id="22" dur="500"/>
                                        <p:tgtEl>
                                          <p:spTgt spid="2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258794" y="140026"/>
            <a:ext cx="2626552" cy="646331"/>
          </a:xfrm>
          <a:prstGeom prst="rect">
            <a:avLst/>
          </a:prstGeom>
          <a:noFill/>
        </p:spPr>
        <p:txBody>
          <a:bodyPr wrap="none" rtlCol="0">
            <a:spAutoFit/>
          </a:bodyPr>
          <a:lstStyle/>
          <a:p>
            <a:pPr algn="ctr"/>
            <a:r>
              <a:rPr lang="en-US" sz="3600" dirty="0"/>
              <a:t>Prerequisites</a:t>
            </a:r>
          </a:p>
        </p:txBody>
      </p:sp>
      <p:sp>
        <p:nvSpPr>
          <p:cNvPr id="5" name="Slide Number Placeholder 4"/>
          <p:cNvSpPr>
            <a:spLocks noGrp="1"/>
          </p:cNvSpPr>
          <p:nvPr>
            <p:ph type="sldNum" sz="quarter" idx="12"/>
          </p:nvPr>
        </p:nvSpPr>
        <p:spPr/>
        <p:txBody>
          <a:bodyPr/>
          <a:lstStyle/>
          <a:p>
            <a:fld id="{D632C6B4-414F-3741-9161-A0ECAF96219A}" type="slidenum">
              <a:rPr lang="en-US" smtClean="0"/>
              <a:t>3</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9" y="886718"/>
            <a:ext cx="8523102" cy="3785652"/>
          </a:xfrm>
          <a:prstGeom prst="rect">
            <a:avLst/>
          </a:prstGeom>
        </p:spPr>
        <p:txBody>
          <a:bodyPr wrap="square">
            <a:spAutoFit/>
          </a:bodyPr>
          <a:lstStyle/>
          <a:p>
            <a:pPr marL="285750" indent="-285750">
              <a:buFont typeface="Arial" panose="020B0604020202020204" pitchFamily="34" charset="0"/>
              <a:buChar char="•"/>
            </a:pPr>
            <a:r>
              <a:rPr lang="en-US" sz="2000" dirty="0"/>
              <a:t>This is a math intensive course.  A solid foundation in linear algebra (at the level of Math 314), as well as comfort with analysis, probability, and statistics at an advanced undergraduate level is required.</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Mathematical maturity: if you have never written a mathematical proof before, this course will be a struggle.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Familiarity with one of </a:t>
            </a:r>
            <a:r>
              <a:rPr lang="en-US" sz="2000" dirty="0" err="1"/>
              <a:t>Matlab</a:t>
            </a:r>
            <a:r>
              <a:rPr lang="en-US" sz="2000" dirty="0"/>
              <a:t>, Python, or Julia.  There will be a modest amount of programming involved in the course &amp; homework.</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Undergraduates need permission (if you are here, you have already spoken to me).</a:t>
            </a:r>
          </a:p>
        </p:txBody>
      </p:sp>
    </p:spTree>
    <p:extLst>
      <p:ext uri="{BB962C8B-B14F-4D97-AF65-F5344CB8AC3E}">
        <p14:creationId xmlns:p14="http://schemas.microsoft.com/office/powerpoint/2010/main" val="363089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dissolve">
                                      <p:cBhvr>
                                        <p:cTn id="12" dur="500"/>
                                        <p:tgtEl>
                                          <p:spTgt spid="2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animEffect transition="in" filter="dissolve">
                                      <p:cBhvr>
                                        <p:cTn id="17" dur="500"/>
                                        <p:tgtEl>
                                          <p:spTgt spid="2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xEl>
                                              <p:pRg st="6" end="6"/>
                                            </p:txEl>
                                          </p:spTgt>
                                        </p:tgtEl>
                                        <p:attrNameLst>
                                          <p:attrName>style.visibility</p:attrName>
                                        </p:attrNameLst>
                                      </p:cBhvr>
                                      <p:to>
                                        <p:strVal val="visible"/>
                                      </p:to>
                                    </p:set>
                                    <p:animEffect transition="in" filter="dissolve">
                                      <p:cBhvr>
                                        <p:cTn id="22" dur="500"/>
                                        <p:tgtEl>
                                          <p:spTgt spid="2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688463" y="140026"/>
            <a:ext cx="1767215" cy="646331"/>
          </a:xfrm>
          <a:prstGeom prst="rect">
            <a:avLst/>
          </a:prstGeom>
          <a:noFill/>
        </p:spPr>
        <p:txBody>
          <a:bodyPr wrap="none" rtlCol="0">
            <a:spAutoFit/>
          </a:bodyPr>
          <a:lstStyle/>
          <a:p>
            <a:pPr algn="ctr"/>
            <a:r>
              <a:rPr lang="en-US" sz="3600" dirty="0"/>
              <a:t>Material</a:t>
            </a:r>
          </a:p>
        </p:txBody>
      </p:sp>
      <p:sp>
        <p:nvSpPr>
          <p:cNvPr id="5" name="Slide Number Placeholder 4"/>
          <p:cNvSpPr>
            <a:spLocks noGrp="1"/>
          </p:cNvSpPr>
          <p:nvPr>
            <p:ph type="sldNum" sz="quarter" idx="12"/>
          </p:nvPr>
        </p:nvSpPr>
        <p:spPr/>
        <p:txBody>
          <a:bodyPr/>
          <a:lstStyle/>
          <a:p>
            <a:fld id="{D632C6B4-414F-3741-9161-A0ECAF96219A}" type="slidenum">
              <a:rPr lang="en-US" smtClean="0"/>
              <a:t>4</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9" y="886718"/>
            <a:ext cx="8523102" cy="4216539"/>
          </a:xfrm>
          <a:prstGeom prst="rect">
            <a:avLst/>
          </a:prstGeom>
        </p:spPr>
        <p:txBody>
          <a:bodyPr wrap="square">
            <a:spAutoFit/>
          </a:bodyPr>
          <a:lstStyle/>
          <a:p>
            <a:pPr marL="285750" indent="-285750" algn="just">
              <a:buFont typeface="Arial" panose="020B0604020202020204" pitchFamily="34" charset="0"/>
              <a:buChar char="•"/>
            </a:pPr>
            <a:r>
              <a:rPr lang="en-US" sz="2000" b="1" dirty="0"/>
              <a:t>Textbook: </a:t>
            </a:r>
            <a:r>
              <a:rPr lang="en-US" sz="2000" dirty="0"/>
              <a:t>free online book </a:t>
            </a:r>
            <a:r>
              <a:rPr lang="en-US" sz="2000" i="1" dirty="0"/>
              <a:t>Convex Optimization </a:t>
            </a:r>
            <a:r>
              <a:rPr lang="en-US" sz="2000" dirty="0"/>
              <a:t>by Boyd &amp; </a:t>
            </a:r>
            <a:r>
              <a:rPr lang="en-US" sz="2000" dirty="0" err="1"/>
              <a:t>Vandenberghe</a:t>
            </a:r>
            <a:r>
              <a:rPr lang="en-US" sz="2000" dirty="0"/>
              <a:t> available at </a:t>
            </a:r>
            <a:r>
              <a:rPr lang="en-US" sz="2000" dirty="0">
                <a:hlinkClick r:id="rId2"/>
              </a:rPr>
              <a:t>https://web.stanford.edu/~boyd/cvxbook/</a:t>
            </a:r>
            <a:endParaRPr lang="en-US" sz="2000" dirty="0"/>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b="1" dirty="0"/>
              <a:t>Software: </a:t>
            </a:r>
            <a:r>
              <a:rPr lang="en-US" sz="2000" dirty="0"/>
              <a:t>one of </a:t>
            </a:r>
            <a:r>
              <a:rPr lang="en-US" sz="2000" dirty="0">
                <a:hlinkClick r:id="rId3"/>
              </a:rPr>
              <a:t>CVX</a:t>
            </a:r>
            <a:r>
              <a:rPr lang="en-US" sz="2000" dirty="0"/>
              <a:t> (</a:t>
            </a:r>
            <a:r>
              <a:rPr lang="en-US" sz="2000" dirty="0" err="1"/>
              <a:t>Matlab</a:t>
            </a:r>
            <a:r>
              <a:rPr lang="en-US" sz="2000" dirty="0"/>
              <a:t>), </a:t>
            </a:r>
            <a:r>
              <a:rPr lang="en-US" sz="2000" dirty="0">
                <a:hlinkClick r:id="rId4"/>
              </a:rPr>
              <a:t>CVXPY</a:t>
            </a:r>
            <a:r>
              <a:rPr lang="en-US" sz="2000" dirty="0"/>
              <a:t> (Python), or </a:t>
            </a:r>
            <a:r>
              <a:rPr lang="en-US" sz="2000" dirty="0">
                <a:hlinkClick r:id="rId5"/>
              </a:rPr>
              <a:t>Convex.jl</a:t>
            </a:r>
            <a:r>
              <a:rPr lang="en-US" sz="2000" dirty="0"/>
              <a:t> (Julia), to write simple scripts. We refer to CVX, CVXPY, and </a:t>
            </a:r>
            <a:r>
              <a:rPr lang="en-US" sz="2000" dirty="0" err="1"/>
              <a:t>Convex.jl</a:t>
            </a:r>
            <a:r>
              <a:rPr lang="en-US" sz="2000" dirty="0"/>
              <a:t> collectively as CVX*.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b="1" dirty="0"/>
              <a:t>Additional resources:</a:t>
            </a:r>
          </a:p>
          <a:p>
            <a:pPr marL="742950" lvl="1" indent="-285750">
              <a:buFont typeface="Arial" panose="020B0604020202020204" pitchFamily="34" charset="0"/>
              <a:buChar char="•"/>
            </a:pPr>
            <a:r>
              <a:rPr lang="en-US" dirty="0"/>
              <a:t>J. </a:t>
            </a:r>
            <a:r>
              <a:rPr lang="en-US" dirty="0" err="1"/>
              <a:t>Renegar</a:t>
            </a:r>
            <a:r>
              <a:rPr lang="en-US" dirty="0"/>
              <a:t>, A Mathematical View of Interior Point Methods for Convex Optimization, 1998</a:t>
            </a:r>
          </a:p>
          <a:p>
            <a:pPr marL="742950" lvl="1" indent="-285750">
              <a:buFont typeface="Arial" panose="020B0604020202020204" pitchFamily="34" charset="0"/>
              <a:buChar char="•"/>
            </a:pPr>
            <a:r>
              <a:rPr lang="en-US" dirty="0"/>
              <a:t>A. Ben-Tal and A. </a:t>
            </a:r>
            <a:r>
              <a:rPr lang="en-US" dirty="0" err="1"/>
              <a:t>Nemirovski</a:t>
            </a:r>
            <a:r>
              <a:rPr lang="en-US" dirty="0"/>
              <a:t>, Lectures on Modern Convex Optimization: Analysis, Algorithms, and Engineering Applications, SIAM, 2001</a:t>
            </a:r>
          </a:p>
          <a:p>
            <a:pPr marL="742950" lvl="1" indent="-285750">
              <a:buFont typeface="Arial" panose="020B0604020202020204" pitchFamily="34" charset="0"/>
              <a:buChar char="•"/>
            </a:pPr>
            <a:r>
              <a:rPr lang="en-US" dirty="0"/>
              <a:t>D. </a:t>
            </a:r>
            <a:r>
              <a:rPr lang="en-US" dirty="0" err="1"/>
              <a:t>Bertsekas</a:t>
            </a:r>
            <a:r>
              <a:rPr lang="en-US" dirty="0"/>
              <a:t>, A. </a:t>
            </a:r>
            <a:r>
              <a:rPr lang="en-US" dirty="0" err="1"/>
              <a:t>Nedic</a:t>
            </a:r>
            <a:r>
              <a:rPr lang="en-US" dirty="0"/>
              <a:t>, and A </a:t>
            </a:r>
            <a:r>
              <a:rPr lang="en-US" dirty="0" err="1"/>
              <a:t>Ozdaglar</a:t>
            </a:r>
            <a:r>
              <a:rPr lang="en-US" dirty="0"/>
              <a:t>, Convex Analysis and Optimization , 2003</a:t>
            </a:r>
          </a:p>
          <a:p>
            <a:pPr marL="742950" lvl="1" indent="-285750">
              <a:buFont typeface="Arial" panose="020B0604020202020204" pitchFamily="34" charset="0"/>
              <a:buChar char="•"/>
            </a:pPr>
            <a:r>
              <a:rPr lang="en-US" dirty="0"/>
              <a:t>L. El </a:t>
            </a:r>
            <a:r>
              <a:rPr lang="en-US" dirty="0" err="1"/>
              <a:t>Ghaoui's</a:t>
            </a:r>
            <a:r>
              <a:rPr lang="en-US" dirty="0"/>
              <a:t> </a:t>
            </a:r>
            <a:r>
              <a:rPr lang="en-US" dirty="0">
                <a:hlinkClick r:id="rId6"/>
              </a:rPr>
              <a:t>EE227BT Lecture Notes</a:t>
            </a:r>
            <a:endParaRPr lang="en-US" dirty="0"/>
          </a:p>
          <a:p>
            <a:pPr algn="just"/>
            <a:endParaRPr lang="en-US" sz="2000" b="1" dirty="0"/>
          </a:p>
        </p:txBody>
      </p:sp>
    </p:spTree>
    <p:extLst>
      <p:ext uri="{BB962C8B-B14F-4D97-AF65-F5344CB8AC3E}">
        <p14:creationId xmlns:p14="http://schemas.microsoft.com/office/powerpoint/2010/main" val="232306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dissolve">
                                      <p:cBhvr>
                                        <p:cTn id="12" dur="500"/>
                                        <p:tgtEl>
                                          <p:spTgt spid="2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animEffect transition="in" filter="dissolve">
                                      <p:cBhvr>
                                        <p:cTn id="17" dur="500"/>
                                        <p:tgtEl>
                                          <p:spTgt spid="29">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29">
                                            <p:txEl>
                                              <p:pRg st="5" end="5"/>
                                            </p:txEl>
                                          </p:spTgt>
                                        </p:tgtEl>
                                        <p:attrNameLst>
                                          <p:attrName>style.visibility</p:attrName>
                                        </p:attrNameLst>
                                      </p:cBhvr>
                                      <p:to>
                                        <p:strVal val="visible"/>
                                      </p:to>
                                    </p:set>
                                    <p:animEffect transition="in" filter="dissolve">
                                      <p:cBhvr>
                                        <p:cTn id="20" dur="500"/>
                                        <p:tgtEl>
                                          <p:spTgt spid="29">
                                            <p:txEl>
                                              <p:pRg st="5" end="5"/>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29">
                                            <p:txEl>
                                              <p:pRg st="6" end="6"/>
                                            </p:txEl>
                                          </p:spTgt>
                                        </p:tgtEl>
                                        <p:attrNameLst>
                                          <p:attrName>style.visibility</p:attrName>
                                        </p:attrNameLst>
                                      </p:cBhvr>
                                      <p:to>
                                        <p:strVal val="visible"/>
                                      </p:to>
                                    </p:set>
                                    <p:animEffect transition="in" filter="dissolve">
                                      <p:cBhvr>
                                        <p:cTn id="23" dur="500"/>
                                        <p:tgtEl>
                                          <p:spTgt spid="29">
                                            <p:txEl>
                                              <p:pRg st="6" end="6"/>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29">
                                            <p:txEl>
                                              <p:pRg st="7" end="7"/>
                                            </p:txEl>
                                          </p:spTgt>
                                        </p:tgtEl>
                                        <p:attrNameLst>
                                          <p:attrName>style.visibility</p:attrName>
                                        </p:attrNameLst>
                                      </p:cBhvr>
                                      <p:to>
                                        <p:strVal val="visible"/>
                                      </p:to>
                                    </p:set>
                                    <p:animEffect transition="in" filter="dissolve">
                                      <p:cBhvr>
                                        <p:cTn id="26" dur="500"/>
                                        <p:tgtEl>
                                          <p:spTgt spid="29">
                                            <p:txEl>
                                              <p:pRg st="7" end="7"/>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9">
                                            <p:txEl>
                                              <p:pRg st="8" end="8"/>
                                            </p:txEl>
                                          </p:spTgt>
                                        </p:tgtEl>
                                        <p:attrNameLst>
                                          <p:attrName>style.visibility</p:attrName>
                                        </p:attrNameLst>
                                      </p:cBhvr>
                                      <p:to>
                                        <p:strVal val="visible"/>
                                      </p:to>
                                    </p:set>
                                    <p:animEffect transition="in" filter="dissolve">
                                      <p:cBhvr>
                                        <p:cTn id="29" dur="500"/>
                                        <p:tgtEl>
                                          <p:spTgt spid="2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092213" y="140026"/>
            <a:ext cx="2959721" cy="646331"/>
          </a:xfrm>
          <a:prstGeom prst="rect">
            <a:avLst/>
          </a:prstGeom>
          <a:noFill/>
        </p:spPr>
        <p:txBody>
          <a:bodyPr wrap="none" rtlCol="0">
            <a:spAutoFit/>
          </a:bodyPr>
          <a:lstStyle/>
          <a:p>
            <a:pPr algn="ctr"/>
            <a:r>
              <a:rPr lang="en-US" sz="3600" dirty="0"/>
              <a:t>Administration</a:t>
            </a:r>
          </a:p>
        </p:txBody>
      </p:sp>
      <p:sp>
        <p:nvSpPr>
          <p:cNvPr id="5" name="Slide Number Placeholder 4"/>
          <p:cNvSpPr>
            <a:spLocks noGrp="1"/>
          </p:cNvSpPr>
          <p:nvPr>
            <p:ph type="sldNum" sz="quarter" idx="12"/>
          </p:nvPr>
        </p:nvSpPr>
        <p:spPr/>
        <p:txBody>
          <a:bodyPr/>
          <a:lstStyle/>
          <a:p>
            <a:fld id="{D632C6B4-414F-3741-9161-A0ECAF96219A}" type="slidenum">
              <a:rPr lang="en-US" smtClean="0"/>
              <a:t>5</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8" y="786357"/>
            <a:ext cx="8660831" cy="4031873"/>
          </a:xfrm>
          <a:prstGeom prst="rect">
            <a:avLst/>
          </a:prstGeom>
        </p:spPr>
        <p:txBody>
          <a:bodyPr wrap="square">
            <a:spAutoFit/>
          </a:bodyPr>
          <a:lstStyle/>
          <a:p>
            <a:pPr marL="285750" indent="-285750" algn="just">
              <a:buFont typeface="Arial" panose="020B0604020202020204" pitchFamily="34" charset="0"/>
              <a:buChar char="•"/>
            </a:pPr>
            <a:r>
              <a:rPr lang="en-US" sz="1600" b="1" dirty="0"/>
              <a:t>Lectures: </a:t>
            </a:r>
            <a:r>
              <a:rPr lang="en-US" sz="1600" dirty="0"/>
              <a:t>Tu/Th 3:30-5:00pm in LRSM Auditorium</a:t>
            </a:r>
          </a:p>
          <a:p>
            <a:pPr marL="742950" lvl="1" indent="-285750" algn="just">
              <a:buFont typeface="Arial" panose="020B0604020202020204" pitchFamily="34" charset="0"/>
              <a:buChar char="•"/>
            </a:pPr>
            <a:r>
              <a:rPr lang="en-US" sz="1600" dirty="0"/>
              <a:t>I usually start at 3:30pm, end around 4:50pm, and stay to answer questions until 5pm</a:t>
            </a:r>
          </a:p>
          <a:p>
            <a:pPr algn="just"/>
            <a:endParaRPr lang="en-US" sz="1600" dirty="0"/>
          </a:p>
          <a:p>
            <a:pPr marL="285750" indent="-285750">
              <a:buFont typeface="Arial" panose="020B0604020202020204" pitchFamily="34" charset="0"/>
              <a:buChar char="•"/>
            </a:pPr>
            <a:r>
              <a:rPr lang="en-US" sz="1600" b="1" dirty="0"/>
              <a:t>Course website: </a:t>
            </a:r>
            <a:r>
              <a:rPr lang="en-US" sz="1600" dirty="0"/>
              <a:t>all lecture slides are posted on</a:t>
            </a:r>
            <a:br>
              <a:rPr lang="en-US" sz="1600" b="1" dirty="0"/>
            </a:br>
            <a:r>
              <a:rPr lang="en-US" sz="1600" dirty="0">
                <a:hlinkClick r:id="rId2"/>
              </a:rPr>
              <a:t>https://nikolaimatni.github.io/courses/</a:t>
            </a:r>
            <a:r>
              <a:rPr lang="en-US" sz="1600" dirty="0">
                <a:hlinkClick r:id="rId2"/>
              </a:rPr>
              <a:t>ese6050-spring2026</a:t>
            </a:r>
            <a:r>
              <a:rPr lang="en-US" sz="1600" dirty="0">
                <a:hlinkClick r:id="rId2"/>
              </a:rPr>
              <a:t>/index.html</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Canvas: </a:t>
            </a:r>
            <a:r>
              <a:rPr lang="en-US" sz="1600" dirty="0"/>
              <a:t>Annotated + additional notes will be posted on canvas.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err="1"/>
              <a:t>Gradescope</a:t>
            </a:r>
            <a:r>
              <a:rPr lang="en-US" sz="1600" b="1" dirty="0"/>
              <a:t>: H</a:t>
            </a:r>
            <a:r>
              <a:rPr lang="en-US" sz="1600" dirty="0"/>
              <a:t>omework assignments will be posted to and should be turned in using </a:t>
            </a:r>
            <a:r>
              <a:rPr lang="en-US" sz="1600" dirty="0" err="1"/>
              <a:t>Gradescope</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Ed Discussion: </a:t>
            </a:r>
            <a:r>
              <a:rPr lang="en-US" sz="1600" dirty="0"/>
              <a:t>we will use Ed Discussion for Q&amp;A.  It can be accessed via Canvas.</a:t>
            </a:r>
          </a:p>
          <a:p>
            <a:pPr marL="285750" indent="-285750">
              <a:buFont typeface="Arial" panose="020B0604020202020204" pitchFamily="34" charset="0"/>
              <a:buChar char="•"/>
            </a:pPr>
            <a:endParaRPr lang="en-US" sz="1600" b="1" i="1" dirty="0"/>
          </a:p>
          <a:p>
            <a:pPr marL="285750" indent="-285750">
              <a:buFont typeface="Arial" panose="020B0604020202020204" pitchFamily="34" charset="0"/>
              <a:buChar char="•"/>
            </a:pPr>
            <a:r>
              <a:rPr lang="en-US" sz="1600" b="1" dirty="0"/>
              <a:t>Office hours: </a:t>
            </a:r>
            <a:r>
              <a:rPr lang="en-US" sz="1600" dirty="0"/>
              <a:t>See Canvas, will be finalized this week and start next week.</a:t>
            </a:r>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If you are trying to register: Over 65 on waitlist; open seats are assigned to unused permits; unlikely you will get in the course if you aren’t already registered, sorry </a:t>
            </a:r>
            <a:r>
              <a:rPr lang="en-US" sz="1600" b="1" dirty="0">
                <a:sym typeface="Wingdings" pitchFamily="2" charset="2"/>
              </a:rPr>
              <a:t> </a:t>
            </a:r>
            <a:endParaRPr lang="en-US" sz="1600" b="1" dirty="0"/>
          </a:p>
        </p:txBody>
      </p:sp>
    </p:spTree>
    <p:extLst>
      <p:ext uri="{BB962C8B-B14F-4D97-AF65-F5344CB8AC3E}">
        <p14:creationId xmlns:p14="http://schemas.microsoft.com/office/powerpoint/2010/main" val="298020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dissolve">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3" end="3"/>
                                            </p:txEl>
                                          </p:spTgt>
                                        </p:tgtEl>
                                        <p:attrNameLst>
                                          <p:attrName>style.visibility</p:attrName>
                                        </p:attrNameLst>
                                      </p:cBhvr>
                                      <p:to>
                                        <p:strVal val="visible"/>
                                      </p:to>
                                    </p:set>
                                    <p:animEffect transition="in" filter="dissolve">
                                      <p:cBhvr>
                                        <p:cTn id="17" dur="500"/>
                                        <p:tgtEl>
                                          <p:spTgt spid="2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xEl>
                                              <p:pRg st="5" end="5"/>
                                            </p:txEl>
                                          </p:spTgt>
                                        </p:tgtEl>
                                        <p:attrNameLst>
                                          <p:attrName>style.visibility</p:attrName>
                                        </p:attrNameLst>
                                      </p:cBhvr>
                                      <p:to>
                                        <p:strVal val="visible"/>
                                      </p:to>
                                    </p:set>
                                    <p:animEffect transition="in" filter="dissolve">
                                      <p:cBhvr>
                                        <p:cTn id="22" dur="500"/>
                                        <p:tgtEl>
                                          <p:spTgt spid="2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xEl>
                                              <p:pRg st="7" end="7"/>
                                            </p:txEl>
                                          </p:spTgt>
                                        </p:tgtEl>
                                        <p:attrNameLst>
                                          <p:attrName>style.visibility</p:attrName>
                                        </p:attrNameLst>
                                      </p:cBhvr>
                                      <p:to>
                                        <p:strVal val="visible"/>
                                      </p:to>
                                    </p:set>
                                    <p:animEffect transition="in" filter="dissolve">
                                      <p:cBhvr>
                                        <p:cTn id="27" dur="500"/>
                                        <p:tgtEl>
                                          <p:spTgt spid="2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9">
                                            <p:txEl>
                                              <p:pRg st="9" end="9"/>
                                            </p:txEl>
                                          </p:spTgt>
                                        </p:tgtEl>
                                        <p:attrNameLst>
                                          <p:attrName>style.visibility</p:attrName>
                                        </p:attrNameLst>
                                      </p:cBhvr>
                                      <p:to>
                                        <p:strVal val="visible"/>
                                      </p:to>
                                    </p:set>
                                    <p:animEffect transition="in" filter="dissolve">
                                      <p:cBhvr>
                                        <p:cTn id="32" dur="500"/>
                                        <p:tgtEl>
                                          <p:spTgt spid="29">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9">
                                            <p:txEl>
                                              <p:pRg st="11" end="11"/>
                                            </p:txEl>
                                          </p:spTgt>
                                        </p:tgtEl>
                                        <p:attrNameLst>
                                          <p:attrName>style.visibility</p:attrName>
                                        </p:attrNameLst>
                                      </p:cBhvr>
                                      <p:to>
                                        <p:strVal val="visible"/>
                                      </p:to>
                                    </p:set>
                                    <p:animEffect transition="in" filter="dissolve">
                                      <p:cBhvr>
                                        <p:cTn id="37" dur="500"/>
                                        <p:tgtEl>
                                          <p:spTgt spid="29">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9">
                                            <p:txEl>
                                              <p:pRg st="13" end="13"/>
                                            </p:txEl>
                                          </p:spTgt>
                                        </p:tgtEl>
                                        <p:attrNameLst>
                                          <p:attrName>style.visibility</p:attrName>
                                        </p:attrNameLst>
                                      </p:cBhvr>
                                      <p:to>
                                        <p:strVal val="visible"/>
                                      </p:to>
                                    </p:set>
                                    <p:animEffect transition="in" filter="dissolve">
                                      <p:cBhvr>
                                        <p:cTn id="42" dur="500"/>
                                        <p:tgtEl>
                                          <p:spTgt spid="2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743899" y="140026"/>
            <a:ext cx="1656352" cy="646331"/>
          </a:xfrm>
          <a:prstGeom prst="rect">
            <a:avLst/>
          </a:prstGeom>
          <a:noFill/>
        </p:spPr>
        <p:txBody>
          <a:bodyPr wrap="none" rtlCol="0">
            <a:spAutoFit/>
          </a:bodyPr>
          <a:lstStyle/>
          <a:p>
            <a:pPr algn="ctr"/>
            <a:r>
              <a:rPr lang="en-US" sz="3600" dirty="0"/>
              <a:t>Grading</a:t>
            </a:r>
          </a:p>
        </p:txBody>
      </p:sp>
      <p:sp>
        <p:nvSpPr>
          <p:cNvPr id="5" name="Slide Number Placeholder 4"/>
          <p:cNvSpPr>
            <a:spLocks noGrp="1"/>
          </p:cNvSpPr>
          <p:nvPr>
            <p:ph type="sldNum" sz="quarter" idx="12"/>
          </p:nvPr>
        </p:nvSpPr>
        <p:spPr/>
        <p:txBody>
          <a:bodyPr/>
          <a:lstStyle/>
          <a:p>
            <a:fld id="{D632C6B4-414F-3741-9161-A0ECAF96219A}" type="slidenum">
              <a:rPr lang="en-US" smtClean="0"/>
              <a:t>6</a:t>
            </a:fld>
            <a:endParaRPr lang="en-US"/>
          </a:p>
        </p:txBody>
      </p:sp>
      <p:sp>
        <p:nvSpPr>
          <p:cNvPr id="29" name="Rectangle 28">
            <a:extLst>
              <a:ext uri="{FF2B5EF4-FFF2-40B4-BE49-F238E27FC236}">
                <a16:creationId xmlns:a16="http://schemas.microsoft.com/office/drawing/2014/main" id="{3BD721E2-0C38-7346-9DF3-93CDEC38E3E3}"/>
              </a:ext>
            </a:extLst>
          </p:cNvPr>
          <p:cNvSpPr/>
          <p:nvPr/>
        </p:nvSpPr>
        <p:spPr>
          <a:xfrm>
            <a:off x="310449" y="906883"/>
            <a:ext cx="8523102" cy="3139321"/>
          </a:xfrm>
          <a:prstGeom prst="rect">
            <a:avLst/>
          </a:prstGeom>
        </p:spPr>
        <p:txBody>
          <a:bodyPr wrap="square">
            <a:spAutoFit/>
          </a:bodyPr>
          <a:lstStyle/>
          <a:p>
            <a:pPr marL="285750" indent="-285750">
              <a:buFont typeface="Arial" panose="020B0604020202020204" pitchFamily="34" charset="0"/>
              <a:buChar char="•"/>
            </a:pPr>
            <a:r>
              <a:rPr lang="en-US" b="1" dirty="0"/>
              <a:t>Homework (70%)</a:t>
            </a:r>
            <a:r>
              <a:rPr lang="en-US" dirty="0"/>
              <a:t>: there will be 7 homework assignments, handed out on Tuesday, and due two Fridays later by 5pm (accommodations will be made for spring break and end of classes). The homework assignments </a:t>
            </a:r>
            <a:r>
              <a:rPr lang="en-US" b="1" dirty="0"/>
              <a:t>must be </a:t>
            </a:r>
            <a:r>
              <a:rPr lang="en-US" b="1" dirty="0" err="1"/>
              <a:t>LateXed</a:t>
            </a:r>
            <a:r>
              <a:rPr lang="en-US" b="1" dirty="0"/>
              <a:t> and submitted via </a:t>
            </a:r>
            <a:r>
              <a:rPr lang="en-US" b="1" dirty="0" err="1"/>
              <a:t>Gradescope</a:t>
            </a:r>
            <a:r>
              <a:rPr lang="en-US" dirty="0"/>
              <a:t>. Please use this </a:t>
            </a:r>
            <a:r>
              <a:rPr lang="en-US" dirty="0">
                <a:hlinkClick r:id="rId2"/>
              </a:rPr>
              <a:t>LaTeX template</a:t>
            </a:r>
            <a:r>
              <a:rPr lang="en-US" dirty="0"/>
              <a:t> – we ask that you write out detailed and rigorous solutions. You will be given </a:t>
            </a:r>
            <a:r>
              <a:rPr lang="en-US" b="1" dirty="0"/>
              <a:t>7 free late days</a:t>
            </a:r>
            <a:r>
              <a:rPr lang="en-US" dirty="0"/>
              <a:t> which you may use as you please throughout the semester, </a:t>
            </a:r>
            <a:r>
              <a:rPr lang="en-US" b="1" dirty="0"/>
              <a:t>after which no late assignments will be accepted</a:t>
            </a:r>
            <a:r>
              <a:rPr lang="en-US" dirty="0"/>
              <a:t>. Each homework problem will be graded on a scale of 0-4.</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Final take-home exam (30%)</a:t>
            </a:r>
            <a:r>
              <a:rPr lang="en-US" dirty="0"/>
              <a:t>: there will be a 24 hour final take-home exam scheduled during the final exam period. More details on the format of the final exam will be provided later in the semester, including prior year exams.</a:t>
            </a:r>
          </a:p>
        </p:txBody>
      </p:sp>
    </p:spTree>
    <p:extLst>
      <p:ext uri="{BB962C8B-B14F-4D97-AF65-F5344CB8AC3E}">
        <p14:creationId xmlns:p14="http://schemas.microsoft.com/office/powerpoint/2010/main" val="412794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dissolve">
                                      <p:cBhvr>
                                        <p:cTn id="12" dur="5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2ABB-83D9-F58D-9C52-7B57DF6D69DD}"/>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949C82E3-E0B0-B668-99B8-B6C98A7CC3DF}"/>
              </a:ext>
            </a:extLst>
          </p:cNvPr>
          <p:cNvSpPr txBox="1"/>
          <p:nvPr/>
        </p:nvSpPr>
        <p:spPr>
          <a:xfrm>
            <a:off x="2726990" y="140026"/>
            <a:ext cx="3690177" cy="646331"/>
          </a:xfrm>
          <a:prstGeom prst="rect">
            <a:avLst/>
          </a:prstGeom>
          <a:noFill/>
        </p:spPr>
        <p:txBody>
          <a:bodyPr wrap="none" rtlCol="0">
            <a:spAutoFit/>
          </a:bodyPr>
          <a:lstStyle/>
          <a:p>
            <a:pPr algn="ctr"/>
            <a:r>
              <a:rPr lang="en-US" sz="3600" dirty="0"/>
              <a:t>Academic Integrity</a:t>
            </a:r>
          </a:p>
        </p:txBody>
      </p:sp>
      <p:sp>
        <p:nvSpPr>
          <p:cNvPr id="5" name="Slide Number Placeholder 4">
            <a:extLst>
              <a:ext uri="{FF2B5EF4-FFF2-40B4-BE49-F238E27FC236}">
                <a16:creationId xmlns:a16="http://schemas.microsoft.com/office/drawing/2014/main" id="{515A9B86-982C-B826-181A-C0F72862CAD0}"/>
              </a:ext>
            </a:extLst>
          </p:cNvPr>
          <p:cNvSpPr>
            <a:spLocks noGrp="1"/>
          </p:cNvSpPr>
          <p:nvPr>
            <p:ph type="sldNum" sz="quarter" idx="12"/>
          </p:nvPr>
        </p:nvSpPr>
        <p:spPr/>
        <p:txBody>
          <a:bodyPr/>
          <a:lstStyle/>
          <a:p>
            <a:fld id="{D632C6B4-414F-3741-9161-A0ECAF96219A}" type="slidenum">
              <a:rPr lang="en-US" smtClean="0"/>
              <a:t>7</a:t>
            </a:fld>
            <a:endParaRPr lang="en-US"/>
          </a:p>
        </p:txBody>
      </p:sp>
      <p:sp>
        <p:nvSpPr>
          <p:cNvPr id="29" name="Rectangle 28">
            <a:extLst>
              <a:ext uri="{FF2B5EF4-FFF2-40B4-BE49-F238E27FC236}">
                <a16:creationId xmlns:a16="http://schemas.microsoft.com/office/drawing/2014/main" id="{B128E22A-C005-8913-272D-1D3090028E0E}"/>
              </a:ext>
            </a:extLst>
          </p:cNvPr>
          <p:cNvSpPr/>
          <p:nvPr/>
        </p:nvSpPr>
        <p:spPr>
          <a:xfrm>
            <a:off x="310449" y="786357"/>
            <a:ext cx="8523102" cy="4031873"/>
          </a:xfrm>
          <a:prstGeom prst="rect">
            <a:avLst/>
          </a:prstGeom>
        </p:spPr>
        <p:txBody>
          <a:bodyPr wrap="square">
            <a:spAutoFit/>
          </a:bodyPr>
          <a:lstStyle/>
          <a:p>
            <a:pPr marL="285750" indent="-285750">
              <a:buFont typeface="Arial" panose="020B0604020202020204" pitchFamily="34" charset="0"/>
              <a:buChar char="•"/>
            </a:pPr>
            <a:r>
              <a:rPr lang="en-US" sz="1600" b="1" dirty="0"/>
              <a:t>Code of Academic Integrity: </a:t>
            </a:r>
            <a:r>
              <a:rPr lang="en-US" sz="1600" dirty="0"/>
              <a:t>All students are expected to adhere to the University’s </a:t>
            </a:r>
            <a:r>
              <a:rPr lang="en-US" sz="1600" u="sng" dirty="0">
                <a:hlinkClick r:id="rId3"/>
              </a:rPr>
              <a:t>Code of Academic Integrity</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You are encouraged to collaborate with your peers when working on your homework problems, as well as consult other materials.  However, when you write up your own solutions, these materials (including your friends!) should be left aside, and you should write up solutions from scratch.</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You should also cite all resources used and disclose all collaborations in your submission.  Collaboration is different from cheating.  While the former is encouraged, the latter is defined as attempting, abetting, or using unauthorized assistance (e.g., a knowledgeable senior who is not taking the class) or material (e.g., online code).  Some other examples of cheating include: copying problem sets/exams, handing in someone else’s work as your own, and plagiarism.  This will not be tolerated and will be reported to the university.  </a:t>
            </a:r>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Citing the solution manual is not a workaround to this policy!</a:t>
            </a:r>
            <a:endParaRPr lang="en-US" sz="1600" dirty="0"/>
          </a:p>
        </p:txBody>
      </p:sp>
      <p:sp>
        <p:nvSpPr>
          <p:cNvPr id="3" name="TextBox 2">
            <a:extLst>
              <a:ext uri="{FF2B5EF4-FFF2-40B4-BE49-F238E27FC236}">
                <a16:creationId xmlns:a16="http://schemas.microsoft.com/office/drawing/2014/main" id="{361FAFA0-C5D6-7B34-83CB-C5E56F2FA474}"/>
              </a:ext>
            </a:extLst>
          </p:cNvPr>
          <p:cNvSpPr txBox="1"/>
          <p:nvPr/>
        </p:nvSpPr>
        <p:spPr>
          <a:xfrm>
            <a:off x="0" y="309592"/>
            <a:ext cx="9144000" cy="4524315"/>
          </a:xfrm>
          <a:prstGeom prst="rect">
            <a:avLst/>
          </a:prstGeom>
          <a:solidFill>
            <a:srgbClr val="FF0000"/>
          </a:solidFill>
          <a:effectLst>
            <a:softEdge rad="12700"/>
          </a:effectLst>
        </p:spPr>
        <p:txBody>
          <a:bodyPr wrap="square">
            <a:spAutoFit/>
          </a:bodyPr>
          <a:lstStyle/>
          <a:p>
            <a:pPr algn="ctr"/>
            <a:r>
              <a:rPr lang="en-US" sz="3600" b="1" i="0" dirty="0">
                <a:effectLst/>
                <a:latin typeface="Georgia" panose="02040502050405020303" pitchFamily="18" charset="0"/>
              </a:rPr>
              <a:t>We have and will report repeat offenders to </a:t>
            </a:r>
            <a:r>
              <a:rPr lang="en-US" sz="3600" b="1" i="0" u="none" strike="noStrike" dirty="0">
                <a:effectLst/>
                <a:latin typeface="Georgia" panose="02040502050405020303" pitchFamily="18" charset="0"/>
                <a:hlinkClick r:id="rId4">
                  <a:extLst>
                    <a:ext uri="{A12FA001-AC4F-418D-AE19-62706E023703}">
                      <ahyp:hlinkClr xmlns:ahyp="http://schemas.microsoft.com/office/drawing/2018/hyperlinkcolor" val="tx"/>
                    </a:ext>
                  </a:extLst>
                </a:hlinkClick>
              </a:rPr>
              <a:t>The Center for Community Standards and Accountability</a:t>
            </a:r>
            <a:r>
              <a:rPr lang="en-US" sz="3600" b="1" i="0" dirty="0">
                <a:effectLst/>
                <a:latin typeface="Georgia" panose="02040502050405020303" pitchFamily="18" charset="0"/>
              </a:rPr>
              <a:t>: this will result in an Incomplete on your transcript until their investigation is complete. THIS CAN PREVENT YOU FROM GRADUATING, SO DO NOT CHEAT.</a:t>
            </a:r>
            <a:endParaRPr lang="en-US" sz="3600" b="1" dirty="0"/>
          </a:p>
        </p:txBody>
      </p:sp>
    </p:spTree>
    <p:extLst>
      <p:ext uri="{BB962C8B-B14F-4D97-AF65-F5344CB8AC3E}">
        <p14:creationId xmlns:p14="http://schemas.microsoft.com/office/powerpoint/2010/main" val="115362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2" end="2"/>
                                            </p:txEl>
                                          </p:spTgt>
                                        </p:tgtEl>
                                        <p:attrNameLst>
                                          <p:attrName>style.visibility</p:attrName>
                                        </p:attrNameLst>
                                      </p:cBhvr>
                                      <p:to>
                                        <p:strVal val="visible"/>
                                      </p:to>
                                    </p:set>
                                    <p:animEffect transition="in" filter="dissolve">
                                      <p:cBhvr>
                                        <p:cTn id="12" dur="500"/>
                                        <p:tgtEl>
                                          <p:spTgt spid="2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4" end="4"/>
                                            </p:txEl>
                                          </p:spTgt>
                                        </p:tgtEl>
                                        <p:attrNameLst>
                                          <p:attrName>style.visibility</p:attrName>
                                        </p:attrNameLst>
                                      </p:cBhvr>
                                      <p:to>
                                        <p:strVal val="visible"/>
                                      </p:to>
                                    </p:set>
                                    <p:animEffect transition="in" filter="dissolve">
                                      <p:cBhvr>
                                        <p:cTn id="17" dur="500"/>
                                        <p:tgtEl>
                                          <p:spTgt spid="2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xEl>
                                              <p:pRg st="6" end="6"/>
                                            </p:txEl>
                                          </p:spTgt>
                                        </p:tgtEl>
                                        <p:attrNameLst>
                                          <p:attrName>style.visibility</p:attrName>
                                        </p:attrNameLst>
                                      </p:cBhvr>
                                      <p:to>
                                        <p:strVal val="visible"/>
                                      </p:to>
                                    </p:set>
                                    <p:animEffect transition="in" filter="dissolve">
                                      <p:cBhvr>
                                        <p:cTn id="22" dur="500"/>
                                        <p:tgtEl>
                                          <p:spTgt spid="2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4111-676D-AB2C-46F7-B9162F121CBA}"/>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5CEBBD98-B78A-63A2-5C77-83F29C36CBA6}"/>
              </a:ext>
            </a:extLst>
          </p:cNvPr>
          <p:cNvSpPr txBox="1"/>
          <p:nvPr/>
        </p:nvSpPr>
        <p:spPr>
          <a:xfrm>
            <a:off x="3690876" y="140026"/>
            <a:ext cx="1762407" cy="646331"/>
          </a:xfrm>
          <a:prstGeom prst="rect">
            <a:avLst/>
          </a:prstGeom>
          <a:noFill/>
        </p:spPr>
        <p:txBody>
          <a:bodyPr wrap="none" rtlCol="0">
            <a:spAutoFit/>
          </a:bodyPr>
          <a:lstStyle/>
          <a:p>
            <a:pPr algn="ctr"/>
            <a:r>
              <a:rPr lang="en-US" sz="3600" dirty="0"/>
              <a:t>AI Policy</a:t>
            </a:r>
          </a:p>
        </p:txBody>
      </p:sp>
      <p:sp>
        <p:nvSpPr>
          <p:cNvPr id="5" name="Slide Number Placeholder 4">
            <a:extLst>
              <a:ext uri="{FF2B5EF4-FFF2-40B4-BE49-F238E27FC236}">
                <a16:creationId xmlns:a16="http://schemas.microsoft.com/office/drawing/2014/main" id="{D27387F2-6519-8370-2508-C3173ACD1D6B}"/>
              </a:ext>
            </a:extLst>
          </p:cNvPr>
          <p:cNvSpPr>
            <a:spLocks noGrp="1"/>
          </p:cNvSpPr>
          <p:nvPr>
            <p:ph type="sldNum" sz="quarter" idx="12"/>
          </p:nvPr>
        </p:nvSpPr>
        <p:spPr/>
        <p:txBody>
          <a:bodyPr/>
          <a:lstStyle/>
          <a:p>
            <a:fld id="{D632C6B4-414F-3741-9161-A0ECAF96219A}" type="slidenum">
              <a:rPr lang="en-US" smtClean="0"/>
              <a:t>8</a:t>
            </a:fld>
            <a:endParaRPr lang="en-US"/>
          </a:p>
        </p:txBody>
      </p:sp>
      <p:sp>
        <p:nvSpPr>
          <p:cNvPr id="29" name="Rectangle 28">
            <a:extLst>
              <a:ext uri="{FF2B5EF4-FFF2-40B4-BE49-F238E27FC236}">
                <a16:creationId xmlns:a16="http://schemas.microsoft.com/office/drawing/2014/main" id="{18F86229-6EC4-4192-A7AA-9899B125E100}"/>
              </a:ext>
            </a:extLst>
          </p:cNvPr>
          <p:cNvSpPr/>
          <p:nvPr/>
        </p:nvSpPr>
        <p:spPr>
          <a:xfrm>
            <a:off x="310449" y="1253717"/>
            <a:ext cx="8523102" cy="2554545"/>
          </a:xfrm>
          <a:prstGeom prst="rect">
            <a:avLst/>
          </a:prstGeom>
        </p:spPr>
        <p:txBody>
          <a:bodyPr wrap="square">
            <a:spAutoFit/>
          </a:bodyPr>
          <a:lstStyle/>
          <a:p>
            <a:pPr lvl="0"/>
            <a:r>
              <a:rPr lang="en-US" b="1" dirty="0"/>
              <a:t>Exactly two acceptable uses for Generative AI (ChatGPT, Claude, etc.):</a:t>
            </a:r>
          </a:p>
          <a:p>
            <a:pPr marL="285750" lvl="0" indent="-285750">
              <a:buFontTx/>
              <a:buChar char="-"/>
            </a:pPr>
            <a:r>
              <a:rPr lang="en-US" dirty="0"/>
              <a:t>To help in completing the coding exercises to help with syntax, i.e., you don’t have to turn off </a:t>
            </a:r>
            <a:r>
              <a:rPr lang="en-US" dirty="0" err="1"/>
              <a:t>Github</a:t>
            </a:r>
            <a:r>
              <a:rPr lang="en-US" dirty="0"/>
              <a:t> CoPilot when completing the coding exercises.  </a:t>
            </a:r>
          </a:p>
          <a:p>
            <a:pPr marL="285750" lvl="0" indent="-285750">
              <a:buFontTx/>
              <a:buChar char="-"/>
            </a:pPr>
            <a:r>
              <a:rPr lang="en-US" dirty="0"/>
              <a:t>To convert your handwritten notes into LaTeX for submission.</a:t>
            </a:r>
            <a:r>
              <a:rPr lang="en-US" b="1" dirty="0"/>
              <a:t>  We reserve the right to request to see your original handwritten notes in this case.</a:t>
            </a:r>
            <a:endParaRPr lang="en-US" dirty="0"/>
          </a:p>
          <a:p>
            <a:pPr lvl="0"/>
            <a:endParaRPr lang="en-US" dirty="0"/>
          </a:p>
          <a:p>
            <a:pPr lvl="0"/>
            <a:r>
              <a:rPr lang="en-US" b="1" dirty="0"/>
              <a:t>Otherwise, all use of AI is forbidden</a:t>
            </a:r>
            <a:r>
              <a:rPr lang="en-US" dirty="0"/>
              <a:t>: if you cheat and use AI to complete the homework, it will be obvious to us, and we will report you.</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377089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dissolv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dissolve">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dissolve">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xEl>
                                              <p:pRg st="4" end="4"/>
                                            </p:txEl>
                                          </p:spTgt>
                                        </p:tgtEl>
                                        <p:attrNameLst>
                                          <p:attrName>style.visibility</p:attrName>
                                        </p:attrNameLst>
                                      </p:cBhvr>
                                      <p:to>
                                        <p:strVal val="visible"/>
                                      </p:to>
                                    </p:set>
                                    <p:animEffect transition="in" filter="dissolve">
                                      <p:cBhvr>
                                        <p:cTn id="22" dur="500"/>
                                        <p:tgtEl>
                                          <p:spTgt spid="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264854</TotalTime>
  <Words>1253</Words>
  <Application>Microsoft Macintosh PowerPoint</Application>
  <PresentationFormat>On-screen Show (16:9)</PresentationFormat>
  <Paragraphs>80</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Georgia</vt:lpstr>
      <vt:lpstr>Wingdings</vt:lpstr>
      <vt:lpstr>Office Theme</vt:lpstr>
      <vt:lpstr>ESE 6050-001 Lecture 01: Logistics &amp;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California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Nikolai Matni</dc:creator>
  <cp:keywords/>
  <dc:description/>
  <cp:lastModifiedBy>Matni, Nikolai</cp:lastModifiedBy>
  <cp:revision>2624</cp:revision>
  <cp:lastPrinted>2019-08-05T19:45:22Z</cp:lastPrinted>
  <dcterms:created xsi:type="dcterms:W3CDTF">2016-12-08T19:27:44Z</dcterms:created>
  <dcterms:modified xsi:type="dcterms:W3CDTF">2026-01-14T23:22:02Z</dcterms:modified>
  <cp:category/>
</cp:coreProperties>
</file>